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79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it-IT"/>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BBA59E9-9C26-49DA-BB39-72C4B0F0005C}" type="datetimeFigureOut">
              <a:rPr lang="it-IT" smtClean="0"/>
              <a:t>05/05/2018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46086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BBA59E9-9C26-49DA-BB39-72C4B0F0005C}" type="datetimeFigureOut">
              <a:rPr lang="it-IT" smtClean="0"/>
              <a:t>05/05/2018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698465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it-IT"/>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9BBA59E9-9C26-49DA-BB39-72C4B0F0005C}" type="datetimeFigureOut">
              <a:rPr lang="it-IT" smtClean="0"/>
              <a:t>05/05/2018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353261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838200" y="1825625"/>
            <a:ext cx="5181600" cy="435133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6172200" y="1825625"/>
            <a:ext cx="5181600" cy="435133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9BBA59E9-9C26-49DA-BB39-72C4B0F0005C}" type="datetimeFigureOut">
              <a:rPr lang="it-IT" smtClean="0"/>
              <a:t>05/05/2018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167054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smtClean="0"/>
              <a:t>Fare clic per modificare lo stile del titolo</a:t>
            </a:r>
            <a:endParaRPr lang="it-IT"/>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9BBA59E9-9C26-49DA-BB39-72C4B0F0005C}" type="datetimeFigureOut">
              <a:rPr lang="it-IT" smtClean="0"/>
              <a:t>05/05/2018</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46666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9BBA59E9-9C26-49DA-BB39-72C4B0F0005C}" type="datetimeFigureOut">
              <a:rPr lang="it-IT" smtClean="0"/>
              <a:t>05/05/2018</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6276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9BBA59E9-9C26-49DA-BB39-72C4B0F0005C}" type="datetimeFigureOut">
              <a:rPr lang="it-IT" smtClean="0"/>
              <a:t>05/05/2018</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64026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BBA59E9-9C26-49DA-BB39-72C4B0F0005C}" type="datetimeFigureOut">
              <a:rPr lang="it-IT" smtClean="0"/>
              <a:t>05/05/2018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1536964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BBA59E9-9C26-49DA-BB39-72C4B0F0005C}" type="datetimeFigureOut">
              <a:rPr lang="it-IT" smtClean="0"/>
              <a:t>05/05/2018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564133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BBA59E9-9C26-49DA-BB39-72C4B0F0005C}" type="datetimeFigureOut">
              <a:rPr lang="it-IT" smtClean="0"/>
              <a:t>05/05/2018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081510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BBA59E9-9C26-49DA-BB39-72C4B0F0005C}" type="datetimeFigureOut">
              <a:rPr lang="it-IT" smtClean="0"/>
              <a:t>05/05/2018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28515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BA59E9-9C26-49DA-BB39-72C4B0F0005C}" type="datetimeFigureOut">
              <a:rPr lang="it-IT" smtClean="0"/>
              <a:t>05/05/2018</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1EEA6E-6C7A-4EC2-8201-29C9AB74BD6B}" type="slidenum">
              <a:rPr lang="it-IT" smtClean="0"/>
              <a:t>‹N›</a:t>
            </a:fld>
            <a:endParaRPr lang="it-IT"/>
          </a:p>
        </p:txBody>
      </p:sp>
    </p:spTree>
    <p:extLst>
      <p:ext uri="{BB962C8B-B14F-4D97-AF65-F5344CB8AC3E}">
        <p14:creationId xmlns:p14="http://schemas.microsoft.com/office/powerpoint/2010/main" val="3183226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s.nyu.edu/~silberman/datasets/nyu_depth_v2"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vision.caltech.edu/bouguetj/calib_doc/"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willowgarage.com/sites/default/files/holz_rgbd_seg.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s.nyu.edu/~deigen/dnl/" TargetMode="External"/><Relationship Id="rId2" Type="http://schemas.openxmlformats.org/officeDocument/2006/relationships/hyperlink" Target="https://arxiv.org/pdf/1411.4734v4.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dirty="0" err="1" smtClean="0"/>
              <a:t>Plane</a:t>
            </a:r>
            <a:r>
              <a:rPr lang="it-IT" dirty="0" smtClean="0"/>
              <a:t> </a:t>
            </a:r>
            <a:r>
              <a:rPr lang="it-IT" dirty="0" err="1" smtClean="0"/>
              <a:t>segmentation</a:t>
            </a:r>
            <a:r>
              <a:rPr lang="it-IT" dirty="0" smtClean="0"/>
              <a:t> </a:t>
            </a:r>
            <a:r>
              <a:rPr lang="it-IT" dirty="0" err="1" smtClean="0"/>
              <a:t>using</a:t>
            </a:r>
            <a:r>
              <a:rPr lang="it-IT" dirty="0" smtClean="0"/>
              <a:t> RGBD data</a:t>
            </a:r>
            <a:endParaRPr lang="it-IT" dirty="0"/>
          </a:p>
        </p:txBody>
      </p:sp>
      <p:sp>
        <p:nvSpPr>
          <p:cNvPr id="3" name="Sottotitolo 2"/>
          <p:cNvSpPr>
            <a:spLocks noGrp="1"/>
          </p:cNvSpPr>
          <p:nvPr>
            <p:ph type="subTitle" idx="1"/>
          </p:nvPr>
        </p:nvSpPr>
        <p:spPr/>
        <p:txBody>
          <a:bodyPr/>
          <a:lstStyle/>
          <a:p>
            <a:r>
              <a:rPr lang="it-IT" dirty="0" err="1" smtClean="0"/>
              <a:t>Implementation</a:t>
            </a:r>
            <a:r>
              <a:rPr lang="it-IT" dirty="0" smtClean="0"/>
              <a:t> of </a:t>
            </a:r>
            <a:r>
              <a:rPr lang="it-IT" dirty="0"/>
              <a:t>a </a:t>
            </a:r>
            <a:r>
              <a:rPr lang="it-IT" dirty="0" err="1"/>
              <a:t>segmentation</a:t>
            </a:r>
            <a:r>
              <a:rPr lang="it-IT" dirty="0"/>
              <a:t> </a:t>
            </a:r>
            <a:r>
              <a:rPr lang="it-IT" dirty="0" err="1" smtClean="0"/>
              <a:t>strategy</a:t>
            </a:r>
            <a:r>
              <a:rPr lang="it-IT" dirty="0" smtClean="0"/>
              <a:t> </a:t>
            </a:r>
            <a:r>
              <a:rPr lang="en-US" dirty="0" smtClean="0"/>
              <a:t>for RGBD </a:t>
            </a:r>
            <a:r>
              <a:rPr lang="en-US" dirty="0"/>
              <a:t>signals that clusters pixels according to their </a:t>
            </a:r>
            <a:r>
              <a:rPr lang="en-US" dirty="0" err="1" smtClean="0"/>
              <a:t>normals</a:t>
            </a:r>
            <a:endParaRPr lang="it-IT" dirty="0"/>
          </a:p>
        </p:txBody>
      </p:sp>
    </p:spTree>
    <p:extLst>
      <p:ext uri="{BB962C8B-B14F-4D97-AF65-F5344CB8AC3E}">
        <p14:creationId xmlns:p14="http://schemas.microsoft.com/office/powerpoint/2010/main" val="2779278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Input </a:t>
            </a:r>
            <a:r>
              <a:rPr lang="it-IT" dirty="0" err="1" smtClean="0"/>
              <a:t>dataset</a:t>
            </a:r>
            <a:endParaRPr lang="it-IT" dirty="0"/>
          </a:p>
        </p:txBody>
      </p:sp>
      <p:pic>
        <p:nvPicPr>
          <p:cNvPr id="4" name="Segnaposto contenut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47975" y="2056369"/>
            <a:ext cx="6496050" cy="3889850"/>
          </a:xfrm>
        </p:spPr>
      </p:pic>
      <p:sp>
        <p:nvSpPr>
          <p:cNvPr id="5" name="CasellaDiTesto 4"/>
          <p:cNvSpPr txBox="1"/>
          <p:nvPr/>
        </p:nvSpPr>
        <p:spPr>
          <a:xfrm>
            <a:off x="1028700" y="1557338"/>
            <a:ext cx="10744200" cy="646331"/>
          </a:xfrm>
          <a:prstGeom prst="rect">
            <a:avLst/>
          </a:prstGeom>
          <a:noFill/>
        </p:spPr>
        <p:txBody>
          <a:bodyPr wrap="square" rtlCol="0">
            <a:spAutoFit/>
          </a:bodyPr>
          <a:lstStyle/>
          <a:p>
            <a:r>
              <a:rPr lang="it-IT" dirty="0" smtClean="0">
                <a:hlinkClick r:id="rId3"/>
              </a:rPr>
              <a:t>https://cs.nyu.edu/~silberman/datasets/nyu_depth_v2</a:t>
            </a:r>
            <a:endParaRPr lang="it-IT" dirty="0" smtClean="0"/>
          </a:p>
          <a:p>
            <a:endParaRPr lang="it-IT" dirty="0"/>
          </a:p>
        </p:txBody>
      </p:sp>
    </p:spTree>
    <p:extLst>
      <p:ext uri="{BB962C8B-B14F-4D97-AF65-F5344CB8AC3E}">
        <p14:creationId xmlns:p14="http://schemas.microsoft.com/office/powerpoint/2010/main" val="411398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smtClean="0"/>
              <a:t>Preprocessing</a:t>
            </a:r>
            <a:r>
              <a:rPr lang="it-IT" dirty="0" smtClean="0"/>
              <a:t> - </a:t>
            </a:r>
            <a:r>
              <a:rPr lang="it-IT" dirty="0" err="1" smtClean="0"/>
              <a:t>project_depth_map</a:t>
            </a:r>
            <a:endParaRPr lang="it-IT" dirty="0"/>
          </a:p>
        </p:txBody>
      </p:sp>
      <mc:AlternateContent xmlns:mc="http://schemas.openxmlformats.org/markup-compatibility/2006">
        <mc:Choice xmlns:a14="http://schemas.microsoft.com/office/drawing/2010/main" Requires="a14">
          <p:sp>
            <p:nvSpPr>
              <p:cNvPr id="3" name="Segnaposto contenuto 2"/>
              <p:cNvSpPr>
                <a:spLocks noGrp="1"/>
              </p:cNvSpPr>
              <p:nvPr>
                <p:ph idx="1"/>
              </p:nvPr>
            </p:nvSpPr>
            <p:spPr/>
            <p:txBody>
              <a:bodyPr>
                <a:normAutofit fontScale="92500" lnSpcReduction="10000"/>
              </a:bodyPr>
              <a:lstStyle/>
              <a:p>
                <a:r>
                  <a:rPr lang="it-IT" dirty="0" smtClean="0"/>
                  <a:t>From RGB </a:t>
                </a:r>
                <a:r>
                  <a:rPr lang="it-IT" dirty="0" err="1" smtClean="0"/>
                  <a:t>raw</a:t>
                </a:r>
                <a:r>
                  <a:rPr lang="it-IT" dirty="0" smtClean="0"/>
                  <a:t> image and Depth image to </a:t>
                </a:r>
                <a:r>
                  <a:rPr lang="it-IT" dirty="0" err="1" smtClean="0"/>
                  <a:t>undistorted</a:t>
                </a:r>
                <a:r>
                  <a:rPr lang="it-IT" dirty="0" smtClean="0"/>
                  <a:t> images</a:t>
                </a:r>
                <a:br>
                  <a:rPr lang="it-IT" dirty="0" smtClean="0"/>
                </a:br>
                <a:r>
                  <a:rPr lang="it-IT" dirty="0">
                    <a:hlinkClick r:id="rId2"/>
                  </a:rPr>
                  <a:t>http://www.vision.caltech.edu/bouguetj/calib_doc</a:t>
                </a:r>
                <a:r>
                  <a:rPr lang="it-IT" dirty="0" smtClean="0">
                    <a:hlinkClick r:id="rId2"/>
                  </a:rPr>
                  <a:t>/</a:t>
                </a:r>
                <a:r>
                  <a:rPr lang="it-IT" dirty="0"/>
                  <a:t/>
                </a:r>
                <a:br>
                  <a:rPr lang="it-IT" dirty="0"/>
                </a:br>
                <a14:m>
                  <m:oMath xmlns:m="http://schemas.openxmlformats.org/officeDocument/2006/math">
                    <m:sSup>
                      <m:sSupPr>
                        <m:ctrlPr>
                          <a:rPr lang="it-IT" i="1">
                            <a:latin typeface="Cambria Math" panose="02040503050406030204" pitchFamily="18" charset="0"/>
                          </a:rPr>
                        </m:ctrlPr>
                      </m:sSupPr>
                      <m:e>
                        <m:r>
                          <m:rPr>
                            <m:nor/>
                          </m:rPr>
                          <a:rPr lang="it-IT" i="1" dirty="0">
                            <a:latin typeface="Cambria Math" panose="02040503050406030204" pitchFamily="18" charset="0"/>
                          </a:rPr>
                          <m:t>(</m:t>
                        </m:r>
                        <m:r>
                          <m:rPr>
                            <m:nor/>
                          </m:rPr>
                          <a:rPr lang="it-IT" i="1" dirty="0">
                            <a:latin typeface="Cambria Math" panose="02040503050406030204" pitchFamily="18" charset="0"/>
                          </a:rPr>
                          <m:t>x</m:t>
                        </m:r>
                        <m:r>
                          <m:rPr>
                            <m:nor/>
                          </m:rPr>
                          <a:rPr lang="it-IT" i="1" dirty="0">
                            <a:latin typeface="Cambria Math" panose="02040503050406030204" pitchFamily="18" charset="0"/>
                          </a:rPr>
                          <m:t>/</m:t>
                        </m:r>
                        <m:r>
                          <m:rPr>
                            <m:nor/>
                          </m:rPr>
                          <a:rPr lang="it-IT" i="1" dirty="0">
                            <a:latin typeface="Cambria Math" panose="02040503050406030204" pitchFamily="18" charset="0"/>
                          </a:rPr>
                          <m:t>z</m:t>
                        </m:r>
                        <m:r>
                          <m:rPr>
                            <m:nor/>
                          </m:rPr>
                          <a:rPr lang="it-IT" i="1" dirty="0">
                            <a:latin typeface="Cambria Math" panose="02040503050406030204" pitchFamily="18" charset="0"/>
                          </a:rPr>
                          <m:t> , </m:t>
                        </m:r>
                        <m:r>
                          <m:rPr>
                            <m:nor/>
                          </m:rPr>
                          <a:rPr lang="it-IT" i="1" dirty="0">
                            <a:latin typeface="Cambria Math" panose="02040503050406030204" pitchFamily="18" charset="0"/>
                          </a:rPr>
                          <m:t>y</m:t>
                        </m:r>
                        <m:r>
                          <m:rPr>
                            <m:nor/>
                          </m:rPr>
                          <a:rPr lang="it-IT" i="1" dirty="0">
                            <a:latin typeface="Cambria Math" panose="02040503050406030204" pitchFamily="18" charset="0"/>
                          </a:rPr>
                          <m:t>/</m:t>
                        </m:r>
                        <m:r>
                          <m:rPr>
                            <m:nor/>
                          </m:rPr>
                          <a:rPr lang="it-IT" i="1" dirty="0">
                            <a:latin typeface="Cambria Math" panose="02040503050406030204" pitchFamily="18" charset="0"/>
                          </a:rPr>
                          <m:t>z</m:t>
                        </m:r>
                        <m:r>
                          <m:rPr>
                            <m:nor/>
                          </m:rPr>
                          <a:rPr lang="it-IT" i="1" dirty="0">
                            <a:latin typeface="Cambria Math" panose="02040503050406030204" pitchFamily="18" charset="0"/>
                          </a:rPr>
                          <m:t> , 1)=</m:t>
                        </m:r>
                        <m:r>
                          <a:rPr lang="it-IT" i="1">
                            <a:latin typeface="Cambria Math" panose="02040503050406030204" pitchFamily="18" charset="0"/>
                          </a:rPr>
                          <m:t>𝐾</m:t>
                        </m:r>
                      </m:e>
                      <m:sup>
                        <m:r>
                          <a:rPr lang="it-IT" i="1">
                            <a:latin typeface="Cambria Math" panose="02040503050406030204" pitchFamily="18" charset="0"/>
                          </a:rPr>
                          <m:t>−1</m:t>
                        </m:r>
                      </m:sup>
                    </m:sSup>
                    <m:d>
                      <m:dPr>
                        <m:begChr m:val="["/>
                        <m:endChr m:val="]"/>
                        <m:ctrlPr>
                          <a:rPr lang="it-IT" i="1">
                            <a:latin typeface="Cambria Math" panose="02040503050406030204" pitchFamily="18" charset="0"/>
                          </a:rPr>
                        </m:ctrlPr>
                      </m:dPr>
                      <m:e>
                        <m:r>
                          <a:rPr lang="it-IT" i="1">
                            <a:latin typeface="Cambria Math" panose="02040503050406030204" pitchFamily="18" charset="0"/>
                          </a:rPr>
                          <m:t>𝑢</m:t>
                        </m:r>
                        <m:r>
                          <a:rPr lang="it-IT" i="1">
                            <a:latin typeface="Cambria Math" panose="02040503050406030204" pitchFamily="18" charset="0"/>
                          </a:rPr>
                          <m:t>,</m:t>
                        </m:r>
                        <m:r>
                          <a:rPr lang="it-IT" i="1">
                            <a:latin typeface="Cambria Math" panose="02040503050406030204" pitchFamily="18" charset="0"/>
                          </a:rPr>
                          <m:t>𝑣</m:t>
                        </m:r>
                        <m:r>
                          <a:rPr lang="it-IT" i="1">
                            <a:latin typeface="Cambria Math" panose="02040503050406030204" pitchFamily="18" charset="0"/>
                          </a:rPr>
                          <m:t>,1</m:t>
                        </m:r>
                      </m:e>
                    </m:d>
                  </m:oMath>
                </a14:m>
                <a:r>
                  <a:rPr lang="it-IT" dirty="0" smtClean="0"/>
                  <a:t/>
                </a:r>
                <a:br>
                  <a:rPr lang="it-IT" dirty="0" smtClean="0"/>
                </a:br>
                <a14:m>
                  <m:oMath xmlns:m="http://schemas.openxmlformats.org/officeDocument/2006/math">
                    <m:r>
                      <a:rPr lang="it-IT" b="0" i="0" smtClean="0">
                        <a:latin typeface="Cambria Math" panose="02040503050406030204" pitchFamily="18" charset="0"/>
                      </a:rPr>
                      <m:t> </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𝑦</m:t>
                        </m:r>
                      </m:e>
                      <m:sup>
                        <m:r>
                          <a:rPr lang="it-IT" b="0" i="1" smtClean="0">
                            <a:latin typeface="Cambria Math" panose="02040503050406030204" pitchFamily="18" charset="0"/>
                          </a:rPr>
                          <m:t>′</m:t>
                        </m:r>
                      </m:sup>
                    </m:sSup>
                    <m:r>
                      <a:rPr lang="it-IT" b="0" i="1" smtClean="0">
                        <a:latin typeface="Cambria Math" panose="02040503050406030204" pitchFamily="18" charset="0"/>
                      </a:rPr>
                      <m:t>=</m:t>
                    </m:r>
                    <m:r>
                      <a:rPr lang="it-IT" b="0" i="1" smtClean="0">
                        <a:latin typeface="Cambria Math" panose="02040503050406030204" pitchFamily="18" charset="0"/>
                      </a:rPr>
                      <m:t>𝑑𝑖𝑠𝑡𝑜𝑟𝑡</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𝑧</m:t>
                        </m:r>
                        <m:r>
                          <a:rPr lang="it-IT" b="0" i="1" smtClean="0">
                            <a:latin typeface="Cambria Math" panose="02040503050406030204" pitchFamily="18" charset="0"/>
                          </a:rPr>
                          <m:t>,</m:t>
                        </m:r>
                        <m:r>
                          <a:rPr lang="it-IT" b="0" i="1" smtClean="0">
                            <a:latin typeface="Cambria Math" panose="02040503050406030204" pitchFamily="18" charset="0"/>
                          </a:rPr>
                          <m:t>𝑦</m:t>
                        </m:r>
                        <m:r>
                          <a:rPr lang="it-IT" b="0" i="1" smtClean="0">
                            <a:latin typeface="Cambria Math" panose="02040503050406030204" pitchFamily="18" charset="0"/>
                          </a:rPr>
                          <m:t>/</m:t>
                        </m:r>
                        <m:r>
                          <a:rPr lang="it-IT" b="0" i="1" smtClean="0">
                            <a:latin typeface="Cambria Math" panose="02040503050406030204" pitchFamily="18" charset="0"/>
                          </a:rPr>
                          <m:t>𝑧</m:t>
                        </m:r>
                      </m:e>
                    </m:d>
                  </m:oMath>
                </a14:m>
                <a:r>
                  <a:rPr lang="en-US" b="0" dirty="0" smtClean="0"/>
                  <a:t/>
                </a:r>
                <a:br>
                  <a:rPr lang="en-US" b="0" dirty="0" smtClean="0"/>
                </a:br>
                <a14:m>
                  <m:oMath xmlns:m="http://schemas.openxmlformats.org/officeDocument/2006/math">
                    <m:d>
                      <m:dPr>
                        <m:begChr m:val="["/>
                        <m:endChr m:val="]"/>
                        <m:ctrlPr>
                          <a:rPr lang="it-IT" b="0" i="1" smtClean="0">
                            <a:latin typeface="Cambria Math" panose="02040503050406030204" pitchFamily="18" charset="0"/>
                          </a:rPr>
                        </m:ctrlPr>
                      </m:dPr>
                      <m:e>
                        <m:sSup>
                          <m:sSupPr>
                            <m:ctrlPr>
                              <a:rPr lang="it-IT" b="0" i="1" smtClean="0">
                                <a:latin typeface="Cambria Math" panose="02040503050406030204" pitchFamily="18" charset="0"/>
                              </a:rPr>
                            </m:ctrlPr>
                          </m:sSupPr>
                          <m:e>
                            <m:r>
                              <a:rPr lang="it-IT" b="0" i="1" smtClean="0">
                                <a:latin typeface="Cambria Math" panose="02040503050406030204" pitchFamily="18" charset="0"/>
                              </a:rPr>
                              <m:t>𝑢</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𝑣</m:t>
                            </m:r>
                          </m:e>
                          <m:sup>
                            <m:r>
                              <a:rPr lang="it-IT" b="0" i="1" smtClean="0">
                                <a:latin typeface="Cambria Math" panose="02040503050406030204" pitchFamily="18" charset="0"/>
                              </a:rPr>
                              <m:t>′</m:t>
                            </m:r>
                          </m:sup>
                        </m:sSup>
                        <m:r>
                          <a:rPr lang="it-IT" b="0" i="1" smtClean="0">
                            <a:latin typeface="Cambria Math" panose="02040503050406030204" pitchFamily="18" charset="0"/>
                          </a:rPr>
                          <m:t>,1</m:t>
                        </m:r>
                      </m:e>
                    </m:d>
                    <m:r>
                      <a:rPr lang="it-IT" b="0" i="1" smtClean="0">
                        <a:latin typeface="Cambria Math" panose="02040503050406030204" pitchFamily="18" charset="0"/>
                      </a:rPr>
                      <m:t>=</m:t>
                    </m:r>
                    <m:r>
                      <a:rPr lang="it-IT" b="0" i="1" smtClean="0">
                        <a:latin typeface="Cambria Math" panose="02040503050406030204" pitchFamily="18" charset="0"/>
                      </a:rPr>
                      <m:t>𝐾</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𝑦</m:t>
                        </m:r>
                      </m:e>
                      <m:sup>
                        <m:r>
                          <a:rPr lang="it-IT" b="0" i="1" smtClean="0">
                            <a:latin typeface="Cambria Math" panose="02040503050406030204" pitchFamily="18" charset="0"/>
                          </a:rPr>
                          <m:t>′</m:t>
                        </m:r>
                      </m:sup>
                    </m:sSup>
                    <m:r>
                      <a:rPr lang="it-IT" b="0" i="1" smtClean="0">
                        <a:latin typeface="Cambria Math" panose="02040503050406030204" pitchFamily="18" charset="0"/>
                      </a:rPr>
                      <m:t>,1]</m:t>
                    </m:r>
                  </m:oMath>
                </a14:m>
                <a:r>
                  <a:rPr lang="it-IT" dirty="0" smtClean="0"/>
                  <a:t/>
                </a:r>
                <a:br>
                  <a:rPr lang="it-IT" dirty="0" smtClean="0"/>
                </a:br>
                <a:endParaRPr lang="it-IT" dirty="0" smtClean="0"/>
              </a:p>
              <a:p>
                <a:r>
                  <a:rPr lang="it-IT" dirty="0" smtClean="0"/>
                  <a:t>From </a:t>
                </a:r>
                <a:r>
                  <a:rPr lang="it-IT" dirty="0" err="1" smtClean="0"/>
                  <a:t>depth</a:t>
                </a:r>
                <a:r>
                  <a:rPr lang="it-IT" dirty="0" smtClean="0"/>
                  <a:t> image to 3D world </a:t>
                </a:r>
                <a:r>
                  <a:rPr lang="it-IT" dirty="0" err="1" smtClean="0"/>
                  <a:t>coordinates</a:t>
                </a:r>
                <a:r>
                  <a:rPr lang="it-IT" dirty="0" smtClean="0"/>
                  <a:t> w.r.t. the </a:t>
                </a:r>
                <a:r>
                  <a:rPr lang="it-IT" dirty="0" err="1" smtClean="0"/>
                  <a:t>depth</a:t>
                </a:r>
                <a:r>
                  <a:rPr lang="it-IT" dirty="0" smtClean="0"/>
                  <a:t> </a:t>
                </a:r>
                <a:r>
                  <a:rPr lang="it-IT" dirty="0" err="1" smtClean="0"/>
                  <a:t>sensor</a:t>
                </a:r>
                <a:r>
                  <a:rPr lang="it-IT" dirty="0" smtClean="0"/>
                  <a:t/>
                </a:r>
                <a:br>
                  <a:rPr lang="it-IT" dirty="0" smtClean="0"/>
                </a:br>
                <a:r>
                  <a:rPr lang="it-IT" dirty="0"/>
                  <a:t>depth_plane2depth_world</a:t>
                </a:r>
              </a:p>
              <a:p>
                <a:r>
                  <a:rPr lang="it-IT" dirty="0" smtClean="0"/>
                  <a:t>From </a:t>
                </a:r>
                <a:r>
                  <a:rPr lang="it-IT" dirty="0" err="1" smtClean="0"/>
                  <a:t>depth</a:t>
                </a:r>
                <a:r>
                  <a:rPr lang="it-IT" dirty="0" smtClean="0"/>
                  <a:t> 3D world </a:t>
                </a:r>
                <a:r>
                  <a:rPr lang="it-IT" dirty="0" err="1" smtClean="0"/>
                  <a:t>coordinates</a:t>
                </a:r>
                <a:r>
                  <a:rPr lang="it-IT" dirty="0" smtClean="0"/>
                  <a:t> to 3D world </a:t>
                </a:r>
                <a:r>
                  <a:rPr lang="it-IT" dirty="0" err="1" smtClean="0"/>
                  <a:t>coordinates</a:t>
                </a:r>
                <a:r>
                  <a:rPr lang="it-IT" dirty="0" smtClean="0"/>
                  <a:t> w.r.t. RGB </a:t>
                </a:r>
                <a:r>
                  <a:rPr lang="it-IT" dirty="0" err="1" smtClean="0"/>
                  <a:t>sensor</a:t>
                </a:r>
                <a:r>
                  <a:rPr lang="it-IT" dirty="0" smtClean="0"/>
                  <a:t/>
                </a:r>
                <a:br>
                  <a:rPr lang="it-IT" dirty="0" smtClean="0"/>
                </a:br>
                <a:r>
                  <a:rPr lang="it-IT" dirty="0"/>
                  <a:t>depth_world2rgb_world</a:t>
                </a:r>
              </a:p>
              <a:p>
                <a:r>
                  <a:rPr lang="en-US" dirty="0" smtClean="0"/>
                  <a:t>From 3D world coordinates w/r/t/ RGB sensor to RGB image plane</a:t>
                </a:r>
                <a:br>
                  <a:rPr lang="en-US" dirty="0" smtClean="0"/>
                </a:br>
                <a:r>
                  <a:rPr lang="it-IT" dirty="0"/>
                  <a:t>rgb_world2rgb_plane</a:t>
                </a:r>
              </a:p>
              <a:p>
                <a:endParaRPr lang="it-IT" dirty="0" smtClean="0"/>
              </a:p>
              <a:p>
                <a:endParaRPr lang="it-IT" dirty="0"/>
              </a:p>
            </p:txBody>
          </p:sp>
        </mc:Choice>
        <mc:Fallback>
          <p:sp>
            <p:nvSpPr>
              <p:cNvPr id="3" name="Segnaposto contenuto 2"/>
              <p:cNvSpPr>
                <a:spLocks noGrp="1" noRot="1" noChangeAspect="1" noMove="1" noResize="1" noEditPoints="1" noAdjustHandles="1" noChangeArrowheads="1" noChangeShapeType="1" noTextEdit="1"/>
              </p:cNvSpPr>
              <p:nvPr>
                <p:ph idx="1"/>
              </p:nvPr>
            </p:nvSpPr>
            <p:spPr>
              <a:blipFill rotWithShape="0">
                <a:blip r:embed="rId3"/>
                <a:stretch>
                  <a:fillRect l="-928" t="-2801" b="-2241"/>
                </a:stretch>
              </a:blipFill>
            </p:spPr>
            <p:txBody>
              <a:bodyPr/>
              <a:lstStyle/>
              <a:p>
                <a:r>
                  <a:rPr lang="it-IT">
                    <a:noFill/>
                  </a:rPr>
                  <a:t> </a:t>
                </a:r>
              </a:p>
            </p:txBody>
          </p:sp>
        </mc:Fallback>
      </mc:AlternateContent>
    </p:spTree>
    <p:extLst>
      <p:ext uri="{BB962C8B-B14F-4D97-AF65-F5344CB8AC3E}">
        <p14:creationId xmlns:p14="http://schemas.microsoft.com/office/powerpoint/2010/main" val="3636928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smtClean="0"/>
              <a:t>Processing from </a:t>
            </a:r>
            <a:r>
              <a:rPr lang="en-US" dirty="0" err="1" smtClean="0"/>
              <a:t>ToF</a:t>
            </a:r>
            <a:r>
              <a:rPr lang="en-US" dirty="0" smtClean="0"/>
              <a:t> P.C. in </a:t>
            </a:r>
            <a:r>
              <a:rPr lang="en-US" dirty="0" err="1" smtClean="0"/>
              <a:t>rgb</a:t>
            </a:r>
            <a:r>
              <a:rPr lang="en-US" dirty="0" smtClean="0"/>
              <a:t> world</a:t>
            </a:r>
            <a:endParaRPr lang="it-IT" dirty="0"/>
          </a:p>
        </p:txBody>
      </p:sp>
      <p:sp>
        <p:nvSpPr>
          <p:cNvPr id="3" name="Segnaposto contenuto 2"/>
          <p:cNvSpPr>
            <a:spLocks noGrp="1"/>
          </p:cNvSpPr>
          <p:nvPr>
            <p:ph idx="1"/>
          </p:nvPr>
        </p:nvSpPr>
        <p:spPr/>
        <p:txBody>
          <a:bodyPr/>
          <a:lstStyle/>
          <a:p>
            <a:r>
              <a:rPr lang="it-IT" dirty="0" smtClean="0">
                <a:hlinkClick r:id="rId2"/>
              </a:rPr>
              <a:t>https://www.willowgarage.com/sites/default/files/holz_rgbd_seg.pdf</a:t>
            </a:r>
            <a:endParaRPr lang="it-IT" dirty="0" smtClean="0"/>
          </a:p>
          <a:p>
            <a:r>
              <a:rPr lang="en-US" dirty="0" err="1" smtClean="0"/>
              <a:t>Normals</a:t>
            </a:r>
            <a:r>
              <a:rPr lang="en-US" dirty="0" smtClean="0"/>
              <a:t> from integral images, exploiting the cross product between tangential vectors</a:t>
            </a:r>
          </a:p>
          <a:p>
            <a:r>
              <a:rPr lang="en-US" dirty="0" smtClean="0"/>
              <a:t>Conversion to spherical coordinates</a:t>
            </a:r>
          </a:p>
          <a:p>
            <a:r>
              <a:rPr lang="en-US" dirty="0" smtClean="0"/>
              <a:t>Quantization of the </a:t>
            </a:r>
            <a:r>
              <a:rPr lang="en-US" dirty="0" err="1" smtClean="0"/>
              <a:t>normals</a:t>
            </a:r>
            <a:endParaRPr lang="en-US" dirty="0" smtClean="0"/>
          </a:p>
          <a:p>
            <a:r>
              <a:rPr lang="en-US" dirty="0" smtClean="0"/>
              <a:t>Initial clusters of </a:t>
            </a:r>
            <a:r>
              <a:rPr lang="en-US" dirty="0" err="1" smtClean="0"/>
              <a:t>normals</a:t>
            </a:r>
            <a:endParaRPr lang="en-US" dirty="0" smtClean="0"/>
          </a:p>
          <a:p>
            <a:pPr marL="0" indent="0">
              <a:buNone/>
            </a:pPr>
            <a:endParaRPr lang="it-IT" dirty="0"/>
          </a:p>
        </p:txBody>
      </p:sp>
    </p:spTree>
    <p:extLst>
      <p:ext uri="{BB962C8B-B14F-4D97-AF65-F5344CB8AC3E}">
        <p14:creationId xmlns:p14="http://schemas.microsoft.com/office/powerpoint/2010/main" val="2629867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smtClean="0"/>
              <a:t>Cluster merging procedure</a:t>
            </a:r>
            <a:endParaRPr lang="it-IT" dirty="0"/>
          </a:p>
        </p:txBody>
      </p:sp>
      <p:sp>
        <p:nvSpPr>
          <p:cNvPr id="3" name="Segnaposto contenuto 2"/>
          <p:cNvSpPr>
            <a:spLocks noGrp="1"/>
          </p:cNvSpPr>
          <p:nvPr>
            <p:ph idx="1"/>
          </p:nvPr>
        </p:nvSpPr>
        <p:spPr>
          <a:xfrm>
            <a:off x="838199" y="1825625"/>
            <a:ext cx="10773229" cy="4351338"/>
          </a:xfrm>
        </p:spPr>
        <p:txBody>
          <a:bodyPr>
            <a:normAutofit fontScale="85000" lnSpcReduction="20000"/>
          </a:bodyPr>
          <a:lstStyle/>
          <a:p>
            <a:r>
              <a:rPr lang="en-US" dirty="0" smtClean="0"/>
              <a:t>Find the 26 close initial clusters in initial voxel grid (for 3D voxel grid) or </a:t>
            </a:r>
            <a:br>
              <a:rPr lang="en-US" dirty="0" smtClean="0"/>
            </a:br>
            <a:r>
              <a:rPr lang="en-US" dirty="0" smtClean="0"/>
              <a:t>Find the 8 close initial clusters in the initial voxel grid (for 2D spherical voxel)</a:t>
            </a:r>
          </a:p>
          <a:p>
            <a:r>
              <a:rPr lang="en-US" dirty="0" smtClean="0"/>
              <a:t>Find closest neighbor cluster, characterized by the minimum </a:t>
            </a:r>
            <a:r>
              <a:rPr lang="en-US" dirty="0" smtClean="0"/>
              <a:t>average </a:t>
            </a:r>
            <a:r>
              <a:rPr lang="en-US" dirty="0" smtClean="0"/>
              <a:t>norm of the difference between the original </a:t>
            </a:r>
            <a:r>
              <a:rPr lang="en-US" dirty="0" err="1" smtClean="0"/>
              <a:t>normals</a:t>
            </a:r>
            <a:r>
              <a:rPr lang="en-US" dirty="0" smtClean="0"/>
              <a:t> of every initial cluster and the original </a:t>
            </a:r>
            <a:r>
              <a:rPr lang="en-US" dirty="0" err="1" smtClean="0"/>
              <a:t>normals</a:t>
            </a:r>
            <a:r>
              <a:rPr lang="en-US" dirty="0" smtClean="0"/>
              <a:t> of every one of the neighbor clusters found at the previous point</a:t>
            </a:r>
          </a:p>
          <a:p>
            <a:r>
              <a:rPr lang="en-US" dirty="0" smtClean="0"/>
              <a:t>If the minimum distance between two clusters is lower than a threshold (set equal to the voxel grid cell’s size), and if each cluster is the closest to each other, then merge them and keep track of the merging actions performed together with the distance of the initial cluster merged</a:t>
            </a:r>
          </a:p>
          <a:p>
            <a:r>
              <a:rPr lang="en-US" dirty="0" smtClean="0"/>
              <a:t>If the minimum distance between two clusters is lower than a threshold, but the cluster to be merged is actually closer to another cluster, perform the merging for the other cluster first</a:t>
            </a:r>
          </a:p>
          <a:p>
            <a:r>
              <a:rPr lang="en-US" dirty="0" smtClean="0"/>
              <a:t>Go back to point 1</a:t>
            </a:r>
          </a:p>
          <a:p>
            <a:r>
              <a:rPr lang="en-US" dirty="0" smtClean="0"/>
              <a:t>Cluster according to distance of the plane from origin</a:t>
            </a:r>
          </a:p>
        </p:txBody>
      </p:sp>
    </p:spTree>
    <p:extLst>
      <p:ext uri="{BB962C8B-B14F-4D97-AF65-F5344CB8AC3E}">
        <p14:creationId xmlns:p14="http://schemas.microsoft.com/office/powerpoint/2010/main" val="2868258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smtClean="0"/>
              <a:t>Future work</a:t>
            </a:r>
            <a:endParaRPr lang="it-IT" dirty="0"/>
          </a:p>
        </p:txBody>
      </p:sp>
      <p:sp>
        <p:nvSpPr>
          <p:cNvPr id="3" name="Segnaposto contenuto 2"/>
          <p:cNvSpPr>
            <a:spLocks noGrp="1"/>
          </p:cNvSpPr>
          <p:nvPr>
            <p:ph idx="1"/>
          </p:nvPr>
        </p:nvSpPr>
        <p:spPr/>
        <p:txBody>
          <a:bodyPr/>
          <a:lstStyle/>
          <a:p>
            <a:r>
              <a:rPr lang="it-IT" dirty="0" smtClean="0">
                <a:hlinkClick r:id="rId2"/>
              </a:rPr>
              <a:t>https://arxiv.org/pdf/1411.4734v4.pdf</a:t>
            </a:r>
            <a:endParaRPr lang="it-IT" dirty="0" smtClean="0"/>
          </a:p>
          <a:p>
            <a:r>
              <a:rPr lang="it-IT" dirty="0" smtClean="0">
                <a:hlinkClick r:id="rId3"/>
              </a:rPr>
              <a:t>https://cs.nyu.edu/~deigen/dnl/</a:t>
            </a:r>
            <a:endParaRPr lang="it-IT" dirty="0" smtClean="0"/>
          </a:p>
          <a:p>
            <a:endParaRPr lang="it-IT" dirty="0"/>
          </a:p>
        </p:txBody>
      </p:sp>
    </p:spTree>
    <p:extLst>
      <p:ext uri="{BB962C8B-B14F-4D97-AF65-F5344CB8AC3E}">
        <p14:creationId xmlns:p14="http://schemas.microsoft.com/office/powerpoint/2010/main" val="101045978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1803</TotalTime>
  <Words>106</Words>
  <Application>Microsoft Office PowerPoint</Application>
  <PresentationFormat>Widescreen</PresentationFormat>
  <Paragraphs>25</Paragraphs>
  <Slides>6</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6</vt:i4>
      </vt:variant>
    </vt:vector>
  </HeadingPairs>
  <TitlesOfParts>
    <vt:vector size="11" baseType="lpstr">
      <vt:lpstr>Arial</vt:lpstr>
      <vt:lpstr>Calibri</vt:lpstr>
      <vt:lpstr>Calibri Light</vt:lpstr>
      <vt:lpstr>Cambria Math</vt:lpstr>
      <vt:lpstr>Tema di Office</vt:lpstr>
      <vt:lpstr>Plane segmentation using RGBD data</vt:lpstr>
      <vt:lpstr>Input dataset</vt:lpstr>
      <vt:lpstr>Preprocessing - project_depth_map</vt:lpstr>
      <vt:lpstr>Processing from ToF P.C. in rgb world</vt:lpstr>
      <vt:lpstr>Cluster merging procedure</vt:lpstr>
      <vt:lpstr>Future 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RGB-D </dc:title>
  <dc:creator>Roberto Costa</dc:creator>
  <cp:lastModifiedBy>Roberto Costa</cp:lastModifiedBy>
  <cp:revision>60</cp:revision>
  <dcterms:created xsi:type="dcterms:W3CDTF">2018-05-05T17:20:51Z</dcterms:created>
  <dcterms:modified xsi:type="dcterms:W3CDTF">2018-05-06T23:24:02Z</dcterms:modified>
</cp:coreProperties>
</file>